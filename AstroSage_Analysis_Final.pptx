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stroSage_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4A1F6E"/>
                </a:solidFill>
                <a:latin typeface="Arial"/>
                <a:ea typeface="+mn-ea"/>
                <a:cs typeface="+mn-cs"/>
              </a:defRPr>
            </a:pPr>
            <a:r>
              <a:rPr lang="en-US" sz="1300" b="0" i="0" u="none" strike="noStrike">
                <a:solidFill>
                  <a:srgbClr val="4A1F6E"/>
                </a:solidFill>
                <a:latin typeface="Arial"/>
              </a:rPr>
              <a:t>Website / Platform Distribution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rgbClr val="4A1F6E"/>
              </a:solidFill>
              <a:latin typeface="Arial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Gurucool (Web)</c:v>
                </c:pt>
                <c:pt idx="1">
                  <c:v>Mobile App</c:v>
                </c:pt>
                <c:pt idx="2">
                  <c:v>Dashboard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33</c:v>
                </c:pt>
                <c:pt idx="2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[AstroSage_analysis.xlsx]Sheet4!PivotTable24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</a:t>
            </a:r>
            <a:r>
              <a:rPr lang="en-US" baseline="0"/>
              <a:t> wise Revenue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Sheet4!$B$46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Sheet4!$A$47:$A$50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Sheet4!$B$47:$B$50</c:f>
              <c:numCache>
                <c:formatCode>General</c:formatCode>
                <c:ptCount val="3"/>
                <c:pt idx="0">
                  <c:v>125267.38200000001</c:v>
                </c:pt>
                <c:pt idx="2">
                  <c:v>88719.933333333349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Status Distribution (%)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Status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No-Answer</c:v>
                </c:pt>
                <c:pt idx="2">
                  <c:v>Busy</c:v>
                </c:pt>
                <c:pt idx="3">
                  <c:v>Failed</c:v>
                </c:pt>
                <c:pt idx="4">
                  <c:v>Incomplete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41.3</c:v>
                </c:pt>
                <c:pt idx="1">
                  <c:v>20.7</c:v>
                </c:pt>
                <c:pt idx="2">
                  <c:v>15.2</c:v>
                </c:pt>
                <c:pt idx="3">
                  <c:v>12.4</c:v>
                </c:pt>
                <c:pt idx="4">
                  <c:v>10.4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48497072"/>
        <c:axId val="1948488912"/>
      </c:barChart>
      <c:catAx>
        <c:axId val="194849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488912"/>
        <c:crosses val="autoZero"/>
        <c:auto val="1"/>
        <c:lblAlgn val="ctr"/>
        <c:lblOffset val="100"/>
        <c:noMultiLvlLbl val="1"/>
      </c:catAx>
      <c:valAx>
        <c:axId val="194848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49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[AstroSage_analysis.xlsx]Sheet4!PivotTable19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Chat_Status vs. Count of users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Sheet4!$A$15:$A$20</c:f>
              <c:strCache>
                <c:ptCount val="5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pending</c:v>
                </c:pt>
                <c:pt idx="4">
                  <c:v>started</c:v>
                </c:pt>
              </c:strCache>
            </c:strRef>
          </c:cat>
          <c:val>
            <c:numRef>
              <c:f>Sheet4!$B$15:$B$20</c:f>
              <c:numCache>
                <c:formatCode>General</c:formatCode>
                <c:ptCount val="5"/>
                <c:pt idx="0">
                  <c:v>5535</c:v>
                </c:pt>
                <c:pt idx="1">
                  <c:v>7256</c:v>
                </c:pt>
                <c:pt idx="2">
                  <c:v>6641</c:v>
                </c:pt>
                <c:pt idx="3">
                  <c:v>48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68741312"/>
        <c:axId val="1868732064"/>
      </c:barChart>
      <c:catAx>
        <c:axId val="18687413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Chat_Status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32064"/>
        <c:crosses val="autoZero"/>
        <c:auto val="1"/>
        <c:lblAlgn val="ctr"/>
        <c:lblOffset val="100"/>
        <c:noMultiLvlLbl val="0"/>
      </c:catAx>
      <c:valAx>
        <c:axId val="1868732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users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4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[AstroSage_analysis.xlsx]Subjective-1!PivotTable17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Satisfaction_scores</a:t>
            </a:r>
            <a:r>
              <a:rPr lang="en-US" baseline="0"/>
              <a:t> vs. Count_of_uid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'Subjective-1'!$AN$25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'Subjective-1'!$AM$26:$AM$35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'Subjective-1'!$AN$26:$AN$35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68733152"/>
        <c:axId val="1868733696"/>
      </c:barChart>
      <c:catAx>
        <c:axId val="18687331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Satisfaction_scores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33696"/>
        <c:crosses val="autoZero"/>
        <c:auto val="1"/>
        <c:lblAlgn val="ctr"/>
        <c:lblOffset val="100"/>
        <c:noMultiLvlLbl val="0"/>
      </c:catAx>
      <c:valAx>
        <c:axId val="186873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count_of_uid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3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[AstroSage_analysis.xlsx]Sheet4!PivotTable25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Performers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Sheet4!$Y$1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Sheet4!$X$2:$X$12</c:f>
              <c:strCache>
                <c:ptCount val="10"/>
                <c:pt idx="0">
                  <c:v>Tarot  Mystical</c:v>
                </c:pt>
                <c:pt idx="1">
                  <c:v>Astro 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Tarot  Ankita</c:v>
                </c:pt>
                <c:pt idx="5">
                  <c:v>Astro  Saraswat</c:v>
                </c:pt>
                <c:pt idx="6">
                  <c:v>Tarot  Diva Poonam</c:v>
                </c:pt>
                <c:pt idx="7">
                  <c:v>Astro  Trisha</c:v>
                </c:pt>
                <c:pt idx="8">
                  <c:v>Tarot  Oormika</c:v>
                </c:pt>
                <c:pt idx="9">
                  <c:v>Astro Manish S</c:v>
                </c:pt>
              </c:strCache>
            </c:strRef>
          </c:cat>
          <c:val>
            <c:numRef>
              <c:f>Sheet4!$Y$2:$Y$12</c:f>
              <c:numCache>
                <c:formatCode>General</c:formatCode>
                <c:ptCount val="10"/>
                <c:pt idx="0">
                  <c:v>7.5</c:v>
                </c:pt>
                <c:pt idx="1">
                  <c:v>7.5</c:v>
                </c:pt>
                <c:pt idx="2">
                  <c:v>5.9459459459459456</c:v>
                </c:pt>
                <c:pt idx="3">
                  <c:v>5.9</c:v>
                </c:pt>
                <c:pt idx="4">
                  <c:v>5.75</c:v>
                </c:pt>
                <c:pt idx="5">
                  <c:v>5.6111111111111107</c:v>
                </c:pt>
                <c:pt idx="6">
                  <c:v>5.4626865671641793</c:v>
                </c:pt>
                <c:pt idx="7">
                  <c:v>5.4243243243243242</c:v>
                </c:pt>
                <c:pt idx="8">
                  <c:v>5.4</c:v>
                </c:pt>
                <c:pt idx="9">
                  <c:v>5.0487804878048781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68742944"/>
        <c:axId val="1868735328"/>
      </c:barChart>
      <c:catAx>
        <c:axId val="1868742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Guru Name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35328"/>
        <c:crosses val="autoZero"/>
        <c:auto val="1"/>
        <c:lblAlgn val="ctr"/>
        <c:lblOffset val="100"/>
        <c:noMultiLvlLbl val="0"/>
      </c:catAx>
      <c:valAx>
        <c:axId val="1868735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Rating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42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[AstroSage_analysis.xlsx]Subjective-1!PivotTable11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Hour</a:t>
            </a:r>
            <a:r>
              <a:rPr lang="en-US" b="1" baseline="0"/>
              <a:t> Vs. CallsID Distribution</a:t>
            </a:r>
            <a:endParaRPr lang="en-US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'Subjective-1'!$V$4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'Subjective-1'!$U$5:$U$29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'Subjective-1'!$V$5:$V$29</c:f>
              <c:numCache>
                <c:formatCode>General</c:formatCode>
                <c:ptCount val="24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  <c:pt idx="19">
                  <c:v>223</c:v>
                </c:pt>
                <c:pt idx="20">
                  <c:v>172</c:v>
                </c:pt>
                <c:pt idx="21">
                  <c:v>99</c:v>
                </c:pt>
                <c:pt idx="22">
                  <c:v>73</c:v>
                </c:pt>
                <c:pt idx="23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68744032"/>
        <c:axId val="1625285152"/>
      </c:barChart>
      <c:catAx>
        <c:axId val="18687440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</a:t>
                </a:r>
                <a:r>
                  <a:rPr lang="en-US" baseline="0"/>
                  <a:t> of CallsID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5285152"/>
        <c:crosses val="autoZero"/>
        <c:auto val="1"/>
        <c:lblAlgn val="ctr"/>
        <c:lblOffset val="100"/>
        <c:noMultiLvlLbl val="0"/>
      </c:catAx>
      <c:valAx>
        <c:axId val="162528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8744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[AstroSage_analysis.xlsx]Sheet4!PivotTable16</c:name>
    <c:fmtId val="3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Consultation Type wise Revenue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Sheet4!$A$3:$A$7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Sheet4!$B$3:$B$7</c:f>
              <c:numCache>
                <c:formatCode>General</c:formatCode>
                <c:ptCount val="4"/>
                <c:pt idx="0">
                  <c:v>168442.03500000015</c:v>
                </c:pt>
                <c:pt idx="1">
                  <c:v>45494.683333333342</c:v>
                </c:pt>
                <c:pt idx="3">
                  <c:v>50.596999999999902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24694512"/>
        <c:axId val="1948498160"/>
      </c:barChart>
      <c:catAx>
        <c:axId val="16246945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Consultation Type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498160"/>
        <c:crosses val="autoZero"/>
        <c:auto val="1"/>
        <c:lblAlgn val="ctr"/>
        <c:lblOffset val="100"/>
        <c:noMultiLvlLbl val="0"/>
      </c:catAx>
      <c:valAx>
        <c:axId val="194849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694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Gurus by Session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89274778152731"/>
          <c:y val="9.1641865079365087E-2"/>
          <c:w val="0.77275903012123481"/>
          <c:h val="0.8459737454693163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8"/>
            <c:invertIfNegative val="0"/>
            <c:bubble3D val="0"/>
          </c:dPt>
          <c:dPt>
            <c:idx val="9"/>
            <c:invertIfNegative val="0"/>
            <c:bubble3D val="0"/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Astro Krishaa</c:v>
                </c:pt>
                <c:pt idx="1">
                  <c:v>Astro Sakthi</c:v>
                </c:pt>
                <c:pt idx="2">
                  <c:v>Astro Shalini</c:v>
                </c:pt>
                <c:pt idx="3">
                  <c:v>Astro Brejesh</c:v>
                </c:pt>
                <c:pt idx="4">
                  <c:v>Astro Divya</c:v>
                </c:pt>
                <c:pt idx="5">
                  <c:v>Tarot Gurpreet</c:v>
                </c:pt>
                <c:pt idx="6">
                  <c:v>Astro Yogendra</c:v>
                </c:pt>
                <c:pt idx="7">
                  <c:v>Astro Dr Ravindra</c:v>
                </c:pt>
                <c:pt idx="8">
                  <c:v>Tarot Ittishri</c:v>
                </c:pt>
                <c:pt idx="9">
                  <c:v>Tarot Gurpreet 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1580</c:v>
                </c:pt>
                <c:pt idx="1">
                  <c:v>1450</c:v>
                </c:pt>
                <c:pt idx="2">
                  <c:v>1321</c:v>
                </c:pt>
                <c:pt idx="3">
                  <c:v>1070</c:v>
                </c:pt>
                <c:pt idx="4">
                  <c:v>1056</c:v>
                </c:pt>
                <c:pt idx="5">
                  <c:v>1000</c:v>
                </c:pt>
                <c:pt idx="6">
                  <c:v>777</c:v>
                </c:pt>
                <c:pt idx="7">
                  <c:v>752</c:v>
                </c:pt>
                <c:pt idx="8">
                  <c:v>743</c:v>
                </c:pt>
                <c:pt idx="9">
                  <c:v>735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948487280"/>
        <c:axId val="1948485104"/>
      </c:barChart>
      <c:catAx>
        <c:axId val="1948487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485104"/>
        <c:crosses val="autoZero"/>
        <c:auto val="1"/>
        <c:lblAlgn val="ctr"/>
        <c:lblOffset val="100"/>
        <c:noMultiLvlLbl val="1"/>
      </c:catAx>
      <c:valAx>
        <c:axId val="1948485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848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1F6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4A1F6E"/>
                </a:solidFill>
                <a:latin typeface="Arial"/>
              </a:rPr>
              <a:t>Daily Call Volume &amp; Day-on-Day Change (Dec 2023 – Jan 2024)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Calls</c:v>
                </c:pt>
              </c:strCache>
            </c:strRef>
          </c:tx>
          <c:spPr>
            <a:ln w="31750" cap="flat">
              <a:solidFill>
                <a:srgbClr val="6B2D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D8B"/>
              </a:solidFill>
              <a:ln w="9525" cap="flat">
                <a:solidFill>
                  <a:srgbClr val="6B2D8B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Dec1</c:v>
                </c:pt>
                <c:pt idx="1">
                  <c:v>Dec2</c:v>
                </c:pt>
                <c:pt idx="2">
                  <c:v>Dec3</c:v>
                </c:pt>
                <c:pt idx="3">
                  <c:v>Dec4</c:v>
                </c:pt>
                <c:pt idx="4">
                  <c:v>Dec5</c:v>
                </c:pt>
                <c:pt idx="5">
                  <c:v>Dec6</c:v>
                </c:pt>
                <c:pt idx="6">
                  <c:v>Dec7</c:v>
                </c:pt>
                <c:pt idx="7">
                  <c:v>Dec8</c:v>
                </c:pt>
                <c:pt idx="8">
                  <c:v>Dec9</c:v>
                </c:pt>
                <c:pt idx="9">
                  <c:v>Dec10</c:v>
                </c:pt>
                <c:pt idx="10">
                  <c:v>Dec11</c:v>
                </c:pt>
                <c:pt idx="11">
                  <c:v>Dec12</c:v>
                </c:pt>
                <c:pt idx="12">
                  <c:v>Dec13</c:v>
                </c:pt>
                <c:pt idx="13">
                  <c:v>Dec14</c:v>
                </c:pt>
                <c:pt idx="14">
                  <c:v>Dec15</c:v>
                </c:pt>
                <c:pt idx="15">
                  <c:v>Dec16</c:v>
                </c:pt>
                <c:pt idx="16">
                  <c:v>Dec17</c:v>
                </c:pt>
                <c:pt idx="17">
                  <c:v>Dec18</c:v>
                </c:pt>
                <c:pt idx="18">
                  <c:v>Dec19</c:v>
                </c:pt>
                <c:pt idx="19">
                  <c:v>Dec20</c:v>
                </c:pt>
                <c:pt idx="20">
                  <c:v>Dec21</c:v>
                </c:pt>
                <c:pt idx="21">
                  <c:v>Dec22</c:v>
                </c:pt>
                <c:pt idx="22">
                  <c:v>Dec23</c:v>
                </c:pt>
                <c:pt idx="23">
                  <c:v>Dec24</c:v>
                </c:pt>
                <c:pt idx="24">
                  <c:v>Dec25</c:v>
                </c:pt>
                <c:pt idx="25">
                  <c:v>Dec26</c:v>
                </c:pt>
                <c:pt idx="26">
                  <c:v>Dec27</c:v>
                </c:pt>
                <c:pt idx="27">
                  <c:v>Dec28</c:v>
                </c:pt>
                <c:pt idx="28">
                  <c:v>Dec29</c:v>
                </c:pt>
                <c:pt idx="29">
                  <c:v>Dec30</c:v>
                </c:pt>
                <c:pt idx="30">
                  <c:v>Dec31</c:v>
                </c:pt>
                <c:pt idx="31">
                  <c:v>Jan1</c:v>
                </c:pt>
                <c:pt idx="32">
                  <c:v>Jan3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242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233</c:v>
                </c:pt>
                <c:pt idx="29">
                  <c:v>209</c:v>
                </c:pt>
                <c:pt idx="30">
                  <c:v>178</c:v>
                </c:pt>
                <c:pt idx="31">
                  <c:v>158</c:v>
                </c:pt>
                <c:pt idx="32">
                  <c:v>107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Day-on-Day Change</c:v>
                </c:pt>
              </c:strCache>
            </c:strRef>
          </c:tx>
          <c:spPr>
            <a:ln w="31750" cap="flat">
              <a:solidFill>
                <a:srgbClr val="AB47B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B47BC"/>
              </a:solidFill>
              <a:ln w="9525" cap="flat">
                <a:solidFill>
                  <a:srgbClr val="AB47BC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Dec1</c:v>
                </c:pt>
                <c:pt idx="1">
                  <c:v>Dec2</c:v>
                </c:pt>
                <c:pt idx="2">
                  <c:v>Dec3</c:v>
                </c:pt>
                <c:pt idx="3">
                  <c:v>Dec4</c:v>
                </c:pt>
                <c:pt idx="4">
                  <c:v>Dec5</c:v>
                </c:pt>
                <c:pt idx="5">
                  <c:v>Dec6</c:v>
                </c:pt>
                <c:pt idx="6">
                  <c:v>Dec7</c:v>
                </c:pt>
                <c:pt idx="7">
                  <c:v>Dec8</c:v>
                </c:pt>
                <c:pt idx="8">
                  <c:v>Dec9</c:v>
                </c:pt>
                <c:pt idx="9">
                  <c:v>Dec10</c:v>
                </c:pt>
                <c:pt idx="10">
                  <c:v>Dec11</c:v>
                </c:pt>
                <c:pt idx="11">
                  <c:v>Dec12</c:v>
                </c:pt>
                <c:pt idx="12">
                  <c:v>Dec13</c:v>
                </c:pt>
                <c:pt idx="13">
                  <c:v>Dec14</c:v>
                </c:pt>
                <c:pt idx="14">
                  <c:v>Dec15</c:v>
                </c:pt>
                <c:pt idx="15">
                  <c:v>Dec16</c:v>
                </c:pt>
                <c:pt idx="16">
                  <c:v>Dec17</c:v>
                </c:pt>
                <c:pt idx="17">
                  <c:v>Dec18</c:v>
                </c:pt>
                <c:pt idx="18">
                  <c:v>Dec19</c:v>
                </c:pt>
                <c:pt idx="19">
                  <c:v>Dec20</c:v>
                </c:pt>
                <c:pt idx="20">
                  <c:v>Dec21</c:v>
                </c:pt>
                <c:pt idx="21">
                  <c:v>Dec22</c:v>
                </c:pt>
                <c:pt idx="22">
                  <c:v>Dec23</c:v>
                </c:pt>
                <c:pt idx="23">
                  <c:v>Dec24</c:v>
                </c:pt>
                <c:pt idx="24">
                  <c:v>Dec25</c:v>
                </c:pt>
                <c:pt idx="25">
                  <c:v>Dec26</c:v>
                </c:pt>
                <c:pt idx="26">
                  <c:v>Dec27</c:v>
                </c:pt>
                <c:pt idx="27">
                  <c:v>Dec28</c:v>
                </c:pt>
                <c:pt idx="28">
                  <c:v>Dec29</c:v>
                </c:pt>
                <c:pt idx="29">
                  <c:v>Dec30</c:v>
                </c:pt>
                <c:pt idx="30">
                  <c:v>Dec31</c:v>
                </c:pt>
                <c:pt idx="31">
                  <c:v>Jan1</c:v>
                </c:pt>
                <c:pt idx="32">
                  <c:v>Jan3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</c:v>
                </c:pt>
                <c:pt idx="1">
                  <c:v>104</c:v>
                </c:pt>
                <c:pt idx="2">
                  <c:v>51</c:v>
                </c:pt>
                <c:pt idx="3">
                  <c:v>-19</c:v>
                </c:pt>
                <c:pt idx="4">
                  <c:v>-111</c:v>
                </c:pt>
                <c:pt idx="5">
                  <c:v>1</c:v>
                </c:pt>
                <c:pt idx="6">
                  <c:v>0</c:v>
                </c:pt>
                <c:pt idx="7">
                  <c:v>-116</c:v>
                </c:pt>
                <c:pt idx="8">
                  <c:v>150</c:v>
                </c:pt>
                <c:pt idx="9">
                  <c:v>142</c:v>
                </c:pt>
                <c:pt idx="10">
                  <c:v>-6</c:v>
                </c:pt>
                <c:pt idx="11">
                  <c:v>-66</c:v>
                </c:pt>
                <c:pt idx="12">
                  <c:v>-10</c:v>
                </c:pt>
                <c:pt idx="13">
                  <c:v>-122</c:v>
                </c:pt>
                <c:pt idx="14">
                  <c:v>50</c:v>
                </c:pt>
                <c:pt idx="15">
                  <c:v>-18</c:v>
                </c:pt>
                <c:pt idx="16">
                  <c:v>-13</c:v>
                </c:pt>
                <c:pt idx="17">
                  <c:v>-9</c:v>
                </c:pt>
                <c:pt idx="18">
                  <c:v>-24</c:v>
                </c:pt>
                <c:pt idx="19">
                  <c:v>-31</c:v>
                </c:pt>
                <c:pt idx="20">
                  <c:v>-19</c:v>
                </c:pt>
                <c:pt idx="21">
                  <c:v>4</c:v>
                </c:pt>
                <c:pt idx="22">
                  <c:v>78</c:v>
                </c:pt>
                <c:pt idx="23">
                  <c:v>-9</c:v>
                </c:pt>
                <c:pt idx="24">
                  <c:v>26</c:v>
                </c:pt>
                <c:pt idx="25">
                  <c:v>-3</c:v>
                </c:pt>
                <c:pt idx="26">
                  <c:v>-13</c:v>
                </c:pt>
                <c:pt idx="27">
                  <c:v>-61</c:v>
                </c:pt>
                <c:pt idx="28">
                  <c:v>48</c:v>
                </c:pt>
                <c:pt idx="29">
                  <c:v>-24</c:v>
                </c:pt>
                <c:pt idx="30">
                  <c:v>-31</c:v>
                </c:pt>
                <c:pt idx="31">
                  <c:v>-21</c:v>
                </c:pt>
                <c:pt idx="32">
                  <c:v>-43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8487824"/>
        <c:axId val="1948490544"/>
      </c:lineChart>
      <c:catAx>
        <c:axId val="1948487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1948490544"/>
        <c:crosses val="autoZero"/>
        <c:auto val="1"/>
        <c:lblAlgn val="ctr"/>
        <c:lblOffset val="100"/>
        <c:noMultiLvlLbl val="1"/>
      </c:catAx>
      <c:valAx>
        <c:axId val="194849054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194848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44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80560" y="914400"/>
            <a:ext cx="2560320" cy="256032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09728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 smtClean="0">
                <a:solidFill>
                  <a:srgbClr val="F3E5F5"/>
                </a:solidFill>
              </a:rPr>
              <a:t>✦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 ANALYSIS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4480560"/>
            <a:ext cx="5212080" cy="0"/>
          </a:xfrm>
          <a:prstGeom prst="line">
            <a:avLst/>
          </a:prstGeom>
          <a:noFill/>
          <a:ln w="1905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617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603504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5-Point Star 11"/>
          <p:cNvSpPr/>
          <p:nvPr/>
        </p:nvSpPr>
        <p:spPr>
          <a:xfrm>
            <a:off x="4827988" y="1246908"/>
            <a:ext cx="1877612" cy="1754909"/>
          </a:xfrm>
          <a:prstGeom prst="star5">
            <a:avLst>
              <a:gd name="adj" fmla="val 21423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94887" y="1728430"/>
            <a:ext cx="931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AS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99" y="1325880"/>
            <a:ext cx="997065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 has received a ₹1 Crore investment and aims to optimize its call center operations.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determine how to allocate this investment to maximize operational efficiency, customer satisfaction, and profitability.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will consider historical call data, performance metrics, and market trends to make informed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2004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More 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32004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5196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Training Programs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32004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8388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Call Center Technology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892040"/>
            <a:ext cx="11521440" cy="731520"/>
          </a:xfrm>
          <a:prstGeom prst="roundRect">
            <a:avLst>
              <a:gd name="adj" fmla="val 7500"/>
            </a:avLst>
          </a:prstGeom>
          <a:solidFill>
            <a:srgbClr val="EDE7F6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19472"/>
            <a:ext cx="11247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Which investment strategy delivers maximum ROI — People, Process, or Technology?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8755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28,027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769364"/>
            <a:ext cx="25603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98755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1769364"/>
            <a:ext cx="25603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98755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89320" y="1769364"/>
            <a:ext cx="25603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9144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987552"/>
            <a:ext cx="256032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23960" y="1769364"/>
            <a:ext cx="256032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60604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0632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in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474720"/>
            <a:ext cx="52669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Base Increment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785616"/>
            <a:ext cx="52669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of new users and revenue earned over the period.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4747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3474720"/>
            <a:ext cx="52669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Performance Analysis</a:t>
            </a:r>
          </a:p>
        </p:txBody>
      </p:sp>
      <p:sp>
        <p:nvSpPr>
          <p:cNvPr id="25" name="Text 23"/>
          <p:cNvSpPr/>
          <p:nvPr/>
        </p:nvSpPr>
        <p:spPr>
          <a:xfrm>
            <a:off x="6236208" y="3785616"/>
            <a:ext cx="52669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distribution and performance metrics across gurus.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8920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4892040"/>
            <a:ext cx="52669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5202936"/>
            <a:ext cx="52669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satisfaction scores by guru and session type.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8920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36208" y="4892040"/>
            <a:ext cx="52669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Type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5202936"/>
            <a:ext cx="52669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vs. chat type preference and completion status by user.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640080" cy="64008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868680"/>
            <a:ext cx="4572000" cy="1143000"/>
          </a:xfrm>
          <a:prstGeom prst="roundRect">
            <a:avLst>
              <a:gd name="adj" fmla="val 560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216152"/>
            <a:ext cx="4297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filled blank values, inserted required calculated columns.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" y="1527048"/>
            <a:ext cx="0" cy="667512"/>
          </a:xfrm>
          <a:prstGeom prst="line">
            <a:avLst/>
          </a:prstGeom>
          <a:noFill/>
          <a:ln w="19050">
            <a:solidFill>
              <a:srgbClr val="6B2D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2194560"/>
            <a:ext cx="640080" cy="64008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194560"/>
            <a:ext cx="4572000" cy="1143000"/>
          </a:xfrm>
          <a:prstGeom prst="roundRect">
            <a:avLst>
              <a:gd name="adj" fmla="val 560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542032"/>
            <a:ext cx="4297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major KPIs and created pivot tables to summarize data across dimensions.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" y="2852928"/>
            <a:ext cx="0" cy="667512"/>
          </a:xfrm>
          <a:prstGeom prst="line">
            <a:avLst/>
          </a:prstGeom>
          <a:noFill/>
          <a:ln w="19050">
            <a:solidFill>
              <a:srgbClr val="6B2D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0040" y="3520440"/>
            <a:ext cx="640080" cy="64008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3520440"/>
            <a:ext cx="4572000" cy="1143000"/>
          </a:xfrm>
          <a:prstGeom prst="roundRect">
            <a:avLst>
              <a:gd name="adj" fmla="val 560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867912"/>
            <a:ext cx="4297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charts and graphs to uncover trends in call volume, revenue, and ratings.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" y="4178808"/>
            <a:ext cx="0" cy="667512"/>
          </a:xfrm>
          <a:prstGeom prst="line">
            <a:avLst/>
          </a:prstGeom>
          <a:noFill/>
          <a:ln w="19050">
            <a:solidFill>
              <a:srgbClr val="6B2D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20040" y="4846320"/>
            <a:ext cx="640080" cy="64008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4846320"/>
            <a:ext cx="4572000" cy="1143000"/>
          </a:xfrm>
          <a:prstGeom prst="roundRect">
            <a:avLst>
              <a:gd name="adj" fmla="val 560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5193792"/>
            <a:ext cx="4297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actionable insights for better utilization of the ₹1 Cr investment.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8686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Functions Used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132588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44768" y="1325880"/>
            <a:ext cx="56327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1636776"/>
            <a:ext cx="56327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tables, charts, conditional formatting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65176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44768" y="2651760"/>
            <a:ext cx="56327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AVERAGE / SUM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44768" y="2962656"/>
            <a:ext cx="56327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functions for KPI calculations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97764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44768" y="3977640"/>
            <a:ext cx="56327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 Function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4288536"/>
            <a:ext cx="56327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between call duration &amp; satisfaction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530352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44768" y="5303520"/>
            <a:ext cx="56327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Dashboard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5614416"/>
            <a:ext cx="56327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dynamic data exploration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DISTRIBUTION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37729814"/>
              </p:ext>
            </p:extLst>
          </p:nvPr>
        </p:nvGraphicFramePr>
        <p:xfrm>
          <a:off x="320040" y="868680"/>
          <a:ext cx="56692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86868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81928" y="868680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Gurucool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81928" y="1179576"/>
            <a:ext cx="5449824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users prefer Gurucool (web portal) — the primary consultation channel.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265176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81928" y="2651760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#2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81928" y="2962656"/>
            <a:ext cx="5449824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use the mobile app — strong secondary channel worth investment in UX.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443484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81928" y="4434840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81928" y="4745736"/>
            <a:ext cx="5449824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2% engage via dashboard — limited engagement via this channel.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5486400"/>
            <a:ext cx="5669280" cy="594360"/>
          </a:xfrm>
          <a:prstGeom prst="roundRect">
            <a:avLst>
              <a:gd name="adj" fmla="val 9231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550468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Focus: Gurucool web experience + Mobile app performance</a:t>
            </a:r>
            <a:endParaRPr lang="en-US" sz="1050" dirty="0"/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4349710"/>
              </p:ext>
            </p:extLst>
          </p:nvPr>
        </p:nvGraphicFramePr>
        <p:xfrm>
          <a:off x="715818" y="381304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73913947"/>
              </p:ext>
            </p:extLst>
          </p:nvPr>
        </p:nvGraphicFramePr>
        <p:xfrm>
          <a:off x="367053" y="831735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8686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941832"/>
            <a:ext cx="539496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92240" y="1648206"/>
            <a:ext cx="5394960" cy="637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468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542032"/>
            <a:ext cx="539496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92240" y="3248406"/>
            <a:ext cx="5394960" cy="637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Not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4069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4142232"/>
            <a:ext cx="539496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8,365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92240" y="4848606"/>
            <a:ext cx="5394960" cy="637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92240" y="57150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41% of calls are successfully completed — significant loss of potential interactions.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calls are failed or not answered — indicating capacity/routing gaps.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IVR routing and agent availability tools can meaningfully improve completion rates.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46520" y="84124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56248" y="84124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Completion Gap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56248" y="115214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28.4% of chats complete — 37.2% fail outright, revealing a major service gap.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46520" y="225856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56248" y="225856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Automation Opportunity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56248" y="256946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chatbots can handle incomplete sessions and rescue abandoned chats.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46520" y="367588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56248" y="367588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Total Chats Analyzed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56248" y="398678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28,027 chat sessions analyzed; high failure rate signals training and process issues.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509320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56248" y="509320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Actionable Insight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56248" y="540410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fail rate by 10% could significantly boost user satisfaction scores.</a:t>
            </a:r>
            <a:endParaRPr lang="en-US" sz="100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005979"/>
              </p:ext>
            </p:extLst>
          </p:nvPr>
        </p:nvGraphicFramePr>
        <p:xfrm>
          <a:off x="256032" y="1024630"/>
          <a:ext cx="5655241" cy="4068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RATING-WISE 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086600" y="84124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96328" y="841248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Massive Unrated Pool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96328" y="1152144"/>
            <a:ext cx="48097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7,256 sessions carry a rating of 0 — indicating many users did not rate at all, skewing averages.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86600" y="225856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96328" y="2258568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Specialist Skill Gap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96328" y="2569464"/>
            <a:ext cx="48097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performers have niche expertise. Top gurus should mentor lower-rated counterparts.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86600" y="367588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196328" y="3675888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Training Needed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96328" y="3986784"/>
            <a:ext cx="48097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cluster of sessions rated 1–3 signals immediate coaching need for underperformers.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86600" y="5093208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96328" y="5093208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Top Insight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96328" y="5404104"/>
            <a:ext cx="480974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overall rating = 2.93/8. A targeted training program could raise this to 4+ within 3 months.</a:t>
            </a:r>
            <a:endParaRPr lang="en-US" sz="1000" dirty="0"/>
          </a:p>
        </p:txBody>
      </p:sp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3682876"/>
              </p:ext>
            </p:extLst>
          </p:nvPr>
        </p:nvGraphicFramePr>
        <p:xfrm>
          <a:off x="256032" y="1109853"/>
          <a:ext cx="6190950" cy="4644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RATED GURUS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86868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0" y="941832"/>
            <a:ext cx="502920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/ 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49440" y="1648206"/>
            <a:ext cx="5029200" cy="637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(Astro Pujaa Rai &amp; Tarot Mystical)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49440" y="246888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2542032"/>
            <a:ext cx="502920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949440" y="3248406"/>
            <a:ext cx="5029200" cy="637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Top 10 Gurus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49440" y="40233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cohort of gurus consistently earn 7–7.5/8 — rare talent to be nurtured.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top performers should feed structured knowledge transfer sessions.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Tarot Mystical &amp; Astro Pujaa Rai are benchmark performers for training material creation.</a:t>
            </a:r>
            <a:endParaRPr lang="en-US" sz="1050" dirty="0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340722"/>
              </p:ext>
            </p:extLst>
          </p:nvPr>
        </p:nvGraphicFramePr>
        <p:xfrm>
          <a:off x="256032" y="1135827"/>
          <a:ext cx="6033932" cy="4221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HOURLY ANALYSIS 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35240" y="841248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44968" y="841248"/>
            <a:ext cx="4306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Peak Window: 6AM–5PM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44968" y="1152144"/>
            <a:ext cx="4306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 peaks between 6 AM and 5 PM — especially 8 AM (660 calls) and 10 AM (605 calls).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35240" y="2258568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44968" y="2258568"/>
            <a:ext cx="4306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Off-Peak: 10PM–2AM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44968" y="2569464"/>
            <a:ext cx="4306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drops below 130 late at night — opportunity to run maintenance/training.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35240" y="3675888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44968" y="3675888"/>
            <a:ext cx="4306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Workforce Planning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44968" y="3986784"/>
            <a:ext cx="4306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visualization to schedule peak staffing: more agents between 6–17 hours daily.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5093208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44968" y="5093208"/>
            <a:ext cx="4306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Demand-Based Scheduling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44968" y="5404104"/>
            <a:ext cx="4306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 powered by hourly demand data can reduce missed calls by 15–20%.</a:t>
            </a:r>
            <a:endParaRPr lang="en-US" sz="100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791182"/>
              </p:ext>
            </p:extLst>
          </p:nvPr>
        </p:nvGraphicFramePr>
        <p:xfrm>
          <a:off x="347472" y="1188720"/>
          <a:ext cx="6616746" cy="4233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TYPE WISE REVENUE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51389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₹2,13,987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46520" y="84124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56248" y="84124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Calls Dominate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56248" y="115214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₹1,68,442 from calls (78.7%) — highest-earning channel by far.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225856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6248" y="225856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Chat: Cost-Efficient Scale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56248" y="256946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₹45,495 from chats — scalable and lower cost per session.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46520" y="367588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56248" y="367588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Revenue Concentration Risk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56248" y="398678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heavily depends on top-performing gurus and peak hours.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46520" y="5093208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56248" y="5093208"/>
            <a:ext cx="54498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Astrologers' Earnings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56248" y="5404104"/>
            <a:ext cx="544982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guru payout: ₹99,147 (Dec 2023 + Jan 2024 combined).</a:t>
            </a:r>
            <a:endParaRPr lang="en-US" sz="1000" dirty="0"/>
          </a:p>
        </p:txBody>
      </p:sp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0354973"/>
              </p:ext>
            </p:extLst>
          </p:nvPr>
        </p:nvGraphicFramePr>
        <p:xfrm>
          <a:off x="347472" y="1050247"/>
          <a:ext cx="5693110" cy="4042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GURUS PERFORMANCE ANALYSIS 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76301383"/>
              </p:ext>
            </p:extLst>
          </p:nvPr>
        </p:nvGraphicFramePr>
        <p:xfrm>
          <a:off x="320040" y="841248"/>
          <a:ext cx="64008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8686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0" y="941832"/>
            <a:ext cx="5029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49440" y="1572768"/>
            <a:ext cx="502920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Sessions/Day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(Astro Sakthi — Critical Burnout Risk)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49440" y="233172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2404872"/>
            <a:ext cx="5029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949440" y="3035808"/>
            <a:ext cx="502920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Gurus in Dataset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49440" y="3692975"/>
            <a:ext cx="5029200" cy="987552"/>
          </a:xfrm>
          <a:prstGeom prst="roundRect">
            <a:avLst>
              <a:gd name="adj" fmla="val 7407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59168" y="3749040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Critical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59168" y="4059936"/>
            <a:ext cx="480974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gurus handle 50–78 sessions/day — far exceeding sustainable limits.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4828032"/>
            <a:ext cx="5029200" cy="824623"/>
          </a:xfrm>
          <a:prstGeom prst="roundRect">
            <a:avLst>
              <a:gd name="adj" fmla="val 7407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4828032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Zero-Rating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59168" y="5138928"/>
            <a:ext cx="480974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number of gurus received zero ratings — immediate skill intervention needed.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0" y="5800160"/>
            <a:ext cx="5029200" cy="987552"/>
          </a:xfrm>
          <a:prstGeom prst="roundRect">
            <a:avLst>
              <a:gd name="adj" fmla="val 7407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59168" y="5907024"/>
            <a:ext cx="480974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</a:t>
            </a: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59168" y="6217920"/>
            <a:ext cx="480974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best practices from top performers to create training programs for others.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ANALYSIS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41248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841248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02168" y="841248"/>
            <a:ext cx="38039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Peak: Dec 10–11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02168" y="1152144"/>
            <a:ext cx="380390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430–424 calls/day — highest volume period, likely weekend/holiday surge.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92440" y="2258568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02168" y="2258568"/>
            <a:ext cx="38039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Low: Dec 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02168" y="2569464"/>
            <a:ext cx="380390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138 calls — sharpest single-day dip, signaling demand forecasting need.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2440" y="3675888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02168" y="3675888"/>
            <a:ext cx="38039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Weekdays Busier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02168" y="3986784"/>
            <a:ext cx="380390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demand is generally higher Mon–Fri, supporting demand-based scheduling.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5093208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02168" y="5093208"/>
            <a:ext cx="380390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Avg: 246 calls/day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02168" y="5404104"/>
            <a:ext cx="3803904" cy="896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call volume across 34-day period (Total: 8,365 calls).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1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 ANALYTICS DASHBOARD — KEY METRICS AT A GLANCE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274320" y="4206240"/>
            <a:ext cx="11612880" cy="0"/>
          </a:xfrm>
          <a:prstGeom prst="line">
            <a:avLst/>
          </a:prstGeom>
          <a:noFill/>
          <a:ln w="10160">
            <a:solidFill>
              <a:srgbClr val="CE93D8">
                <a:alpha val="5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29768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Full interactive dashboard available in the Excel workbook with real-time slicers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274320" y="4846320"/>
            <a:ext cx="116128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919472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Call Duration vs. Satisfaction: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 = 0.055 (near zero) — suggests duration alone is NOT the key driver of satisfaction.   |   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by Month: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 2023: 2.95 / 8   Jan 2024: 2.68 / 8  — slight dip warrants investigation.</a:t>
            </a:r>
            <a:endParaRPr lang="en-US" sz="11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64" y="518698"/>
            <a:ext cx="9543935" cy="3687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Key Gap: Repeat Callers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969264"/>
            <a:ext cx="7589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4,879 repeat calls from 275 repeat callers — 71.9% of all calls are repeats, signaling unresolved issues and efficiency gaps in the first interaction.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005840"/>
            <a:ext cx="0" cy="896112"/>
          </a:xfrm>
          <a:prstGeom prst="line">
            <a:avLst/>
          </a:prstGeom>
          <a:noFill/>
          <a:ln w="19050">
            <a:solidFill>
              <a:srgbClr val="6B2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03120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F3E5F5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Performance: Rating Crisis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2157984"/>
            <a:ext cx="7589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of sessions rated 3 or below. Only a small set of high-performing gurus are pulling the overall experience — indicating a two-tier skill gap.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2194560"/>
            <a:ext cx="0" cy="896112"/>
          </a:xfrm>
          <a:prstGeom prst="line">
            <a:avLst/>
          </a:prstGeom>
          <a:noFill/>
          <a:ln w="19050">
            <a:solidFill>
              <a:srgbClr val="6B2D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91840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Opportunity: Call Completion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346704"/>
            <a:ext cx="7589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completion rate is critically low. Technology upgrade (smart IVR, call routing) combined with peak-hour staffing can double this metric.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3383280"/>
            <a:ext cx="0" cy="896112"/>
          </a:xfrm>
          <a:prstGeom prst="line">
            <a:avLst/>
          </a:prstGeom>
          <a:noFill/>
          <a:ln w="19050">
            <a:solidFill>
              <a:srgbClr val="6B2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4480560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F3E5F5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35424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Opportunity: Revenue Growth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4535424"/>
            <a:ext cx="7589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concentrated. Diversifying across trained gurus and extending Gurucool web platform can unlock significant untapped revenue.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0" y="4572000"/>
            <a:ext cx="0" cy="896112"/>
          </a:xfrm>
          <a:prstGeom prst="line">
            <a:avLst/>
          </a:prstGeom>
          <a:noFill/>
          <a:ln w="19050">
            <a:solidFill>
              <a:srgbClr val="6B2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5669280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EDE7F6"/>
          </a:solidFill>
          <a:ln w="10160">
            <a:solidFill>
              <a:srgbClr val="D1C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724144"/>
            <a:ext cx="34747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Core Insight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5724144"/>
            <a:ext cx="7589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investment split — Technology (50%), Training (35%), Incentives (15%) — offers the highest expected ROI based on call center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0" y="5760720"/>
            <a:ext cx="0" cy="896112"/>
          </a:xfrm>
          <a:prstGeom prst="line">
            <a:avLst/>
          </a:prstGeom>
          <a:noFill/>
          <a:ln w="19050">
            <a:solidFill>
              <a:srgbClr val="6B2D8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6032" y="16459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4A1F6E"/>
          </a:solidFill>
          <a:ln w="12700">
            <a:solidFill>
              <a:srgbClr val="4A1F6E"/>
            </a:solidFill>
            <a:prstDash val="solid"/>
          </a:ln>
          <a:effectLst>
            <a:outerShdw blurRad="889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005840"/>
            <a:ext cx="515721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Invest in Technology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5157216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call routing algorithms, deploy AI-powered IVR, and upgrade CRM systems to raise call completion </a:t>
            </a:r>
            <a:r>
              <a:rPr lang="en-US" sz="1000" dirty="0" smtClean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rates. </a:t>
            </a: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allocation: ₹50L.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914400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889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45352" y="1005840"/>
            <a:ext cx="515721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Optimize Workforce Utilization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5352" y="1371600"/>
            <a:ext cx="5157216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workloads to prevent top-guru burnout (some handle 76+ sessions/day). Implement demand-based scheduling using peak-hour data to right-size staffing every shift.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889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926080"/>
            <a:ext cx="515721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Enhance Training &amp; Incentives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3291840"/>
            <a:ext cx="5157216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structured coaching programs focusing on </a:t>
            </a:r>
            <a:r>
              <a:rPr lang="en-US" sz="1000" dirty="0" smtClean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of consumer. </a:t>
            </a: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incentives </a:t>
            </a:r>
            <a:r>
              <a:rPr lang="en-US" sz="1000" dirty="0" smtClean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agents. Estimated budget: ₹35L. Expected rating uplift: +1.5 pts.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5352" y="2926080"/>
            <a:ext cx="515721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Implement Live Performance 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3291840"/>
            <a:ext cx="5157216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dashboards with slicer-based drill-downs for shift supervisors. Enable proactive intervention for low-rated gurus. Helps identify coaching opportunities in real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34640"/>
            <a:ext cx="5760720" cy="1719072"/>
          </a:xfrm>
          <a:prstGeom prst="roundRect">
            <a:avLst>
              <a:gd name="adj" fmla="val 5319"/>
            </a:avLst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  <a:effectLst>
            <a:outerShdw blurRad="889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81928" y="3286298"/>
            <a:ext cx="5394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recruit gurus with consistent 7+ ratings. Reduce over-reliance on top-10 by expanding the quality pool. Create a mentorship program pairing top and emerging gurus.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45352" y="2933007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High-Performing Guru Network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A1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71600" y="164592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you…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5486400" cy="0"/>
          </a:xfrm>
          <a:prstGeom prst="line">
            <a:avLst/>
          </a:prstGeom>
          <a:noFill/>
          <a:ln w="19050">
            <a:solidFill>
              <a:srgbClr val="CE9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017520"/>
            <a:ext cx="8869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5643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603504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1399</Words>
  <Application>Microsoft Office PowerPoint</Application>
  <PresentationFormat>Widescreen</PresentationFormat>
  <Paragraphs>218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10</cp:revision>
  <dcterms:created xsi:type="dcterms:W3CDTF">2026-06-11T19:06:11Z</dcterms:created>
  <dcterms:modified xsi:type="dcterms:W3CDTF">2026-06-14T15:35:42Z</dcterms:modified>
</cp:coreProperties>
</file>